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IBM Plex Sans Light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3F91882-B05D-4EDA-BA38-8FBEF23E1434}">
  <a:tblStyle styleId="{E3F91882-B05D-4EDA-BA38-8FBEF23E143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BMPlexSansLight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IBMPlexSansLight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IBMPlexSansLight-bold.fntdata"/><Relationship Id="rId6" Type="http://schemas.openxmlformats.org/officeDocument/2006/relationships/slide" Target="slides/slide1.xml"/><Relationship Id="rId18" Type="http://schemas.openxmlformats.org/officeDocument/2006/relationships/font" Target="fonts/IBMPlexSansLigh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9f95cf8a8c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9f95cf8a8c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9f95cf8a8c_0_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f95cf8a8c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9f95cf8a8c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9f95cf8a8c_0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9f95cf8a8c_0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f95cf8a8c_1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9f95cf8a8c_1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9f95cf8a8c_1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9f95cf8a8c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9f95cf8a8c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9f95cf8a8c_0_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9f95cf8a8c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9f95cf8a8c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9f95cf8a8c_1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9f95cf8a8c_1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9f95cf8a8c_0_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9f95cf8a8c_0_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9f95cf8a8c_0_5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9f95cf8a8c_0_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39f95cf8a8c_0_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ackground pattern&#10;&#10;Description automatically generated" id="15" name="Google Shape;15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>
            <p:ph type="ctrTitle"/>
          </p:nvPr>
        </p:nvSpPr>
        <p:spPr>
          <a:xfrm>
            <a:off x="4249881" y="2504921"/>
            <a:ext cx="7280733" cy="20615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b="0" i="0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4488873" y="4591369"/>
            <a:ext cx="7041742" cy="9346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b="0" i="0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2" type="body"/>
          </p:nvPr>
        </p:nvSpPr>
        <p:spPr>
          <a:xfrm>
            <a:off x="4675910" y="5690085"/>
            <a:ext cx="6854708" cy="4225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0" i="0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228600" lvl="2" marL="1371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indent="-228600" lvl="3" marL="18288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0" type="dt"/>
          </p:nvPr>
        </p:nvSpPr>
        <p:spPr>
          <a:xfrm>
            <a:off x="10416209" y="6342033"/>
            <a:ext cx="1114406" cy="24622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/>
          <p:nvPr/>
        </p:nvSpPr>
        <p:spPr>
          <a:xfrm>
            <a:off x="0" y="0"/>
            <a:ext cx="9044609" cy="685800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rgbClr val="761B2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picture containing shape&#10;&#10;Description automatically generated" id="22" name="Google Shape;2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9224" y="0"/>
            <a:ext cx="1189355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>
            <p:ph type="title"/>
          </p:nvPr>
        </p:nvSpPr>
        <p:spPr>
          <a:xfrm>
            <a:off x="7871791" y="1321904"/>
            <a:ext cx="3658826" cy="39064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body"/>
          </p:nvPr>
        </p:nvSpPr>
        <p:spPr>
          <a:xfrm>
            <a:off x="6858002" y="5394965"/>
            <a:ext cx="4672615" cy="9314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b="0" i="0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E8F92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E8F92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E8F92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E8F92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8F92"/>
              </a:buClr>
              <a:buSzPts val="1600"/>
              <a:buNone/>
              <a:defRPr sz="1600">
                <a:solidFill>
                  <a:srgbClr val="8E8F92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8F92"/>
              </a:buClr>
              <a:buSzPts val="1600"/>
              <a:buNone/>
              <a:defRPr sz="1600">
                <a:solidFill>
                  <a:srgbClr val="8E8F92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8F92"/>
              </a:buClr>
              <a:buSzPts val="1600"/>
              <a:buNone/>
              <a:defRPr sz="1600">
                <a:solidFill>
                  <a:srgbClr val="8E8F92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8F92"/>
              </a:buClr>
              <a:buSzPts val="1600"/>
              <a:buNone/>
              <a:defRPr sz="1600">
                <a:solidFill>
                  <a:srgbClr val="8E8F9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head and Content">
  <p:cSld name="Title, Subhead and Conten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646359" y="365127"/>
            <a:ext cx="10709031" cy="734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644771" y="1345482"/>
            <a:ext cx="10709031" cy="734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b="0" i="0" sz="2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0" i="0">
                <a:solidFill>
                  <a:schemeClr val="accen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0" i="0">
                <a:solidFill>
                  <a:schemeClr val="accen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0" i="0">
                <a:solidFill>
                  <a:schemeClr val="accen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accen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2" type="body"/>
          </p:nvPr>
        </p:nvSpPr>
        <p:spPr>
          <a:xfrm>
            <a:off x="644771" y="2202874"/>
            <a:ext cx="10709031" cy="38792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9375913" y="627684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>
  <p:cSld name="Thank You Slide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/>
          <p:nvPr/>
        </p:nvSpPr>
        <p:spPr>
          <a:xfrm>
            <a:off x="0" y="0"/>
            <a:ext cx="9044609" cy="6858000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rgbClr val="761B2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picture containing shape&#10;&#10;Description automatically generated" id="32" name="Google Shape;32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90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5"/>
          <p:cNvSpPr txBox="1"/>
          <p:nvPr/>
        </p:nvSpPr>
        <p:spPr>
          <a:xfrm>
            <a:off x="7284722" y="3144277"/>
            <a:ext cx="4245895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/>
          </a:p>
        </p:txBody>
      </p:sp>
      <p:sp>
        <p:nvSpPr>
          <p:cNvPr id="34" name="Google Shape;34;p5"/>
          <p:cNvSpPr txBox="1"/>
          <p:nvPr/>
        </p:nvSpPr>
        <p:spPr>
          <a:xfrm>
            <a:off x="6096002" y="5170418"/>
            <a:ext cx="543461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Stevens Institute of Technology</a:t>
            </a:r>
            <a:b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 Castle Point Terrace, Hoboken, NJ 07030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644769" y="365125"/>
            <a:ext cx="1071061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" type="body"/>
          </p:nvPr>
        </p:nvSpPr>
        <p:spPr>
          <a:xfrm>
            <a:off x="644771" y="1825625"/>
            <a:ext cx="10709031" cy="4235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NTR"/>
              <a:buChar char="-"/>
              <a:defRPr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NTR"/>
              <a:buChar char="-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NTR"/>
              <a:buChar char="-"/>
              <a:defRPr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Font typeface="NTR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9375913" y="627684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/>
          <p:nvPr>
            <p:ph type="title"/>
          </p:nvPr>
        </p:nvSpPr>
        <p:spPr>
          <a:xfrm>
            <a:off x="644769" y="365125"/>
            <a:ext cx="1071061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1" type="body"/>
          </p:nvPr>
        </p:nvSpPr>
        <p:spPr>
          <a:xfrm>
            <a:off x="644769" y="1825625"/>
            <a:ext cx="5181600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2" type="body"/>
          </p:nvPr>
        </p:nvSpPr>
        <p:spPr>
          <a:xfrm>
            <a:off x="6172200" y="1825625"/>
            <a:ext cx="5181600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9375913" y="627684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ntent">
  <p:cSld name="Three Conten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644769" y="365125"/>
            <a:ext cx="1071061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1" type="body"/>
          </p:nvPr>
        </p:nvSpPr>
        <p:spPr>
          <a:xfrm>
            <a:off x="644773" y="1825625"/>
            <a:ext cx="3296919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2" type="body"/>
          </p:nvPr>
        </p:nvSpPr>
        <p:spPr>
          <a:xfrm>
            <a:off x="4351622" y="1825625"/>
            <a:ext cx="3296919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3" type="body"/>
          </p:nvPr>
        </p:nvSpPr>
        <p:spPr>
          <a:xfrm>
            <a:off x="8058471" y="1825625"/>
            <a:ext cx="3296919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9375913" y="627684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ntent and Subhead">
  <p:cSld name="Three Content and Subhead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646359" y="365127"/>
            <a:ext cx="10709031" cy="734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" type="body"/>
          </p:nvPr>
        </p:nvSpPr>
        <p:spPr>
          <a:xfrm>
            <a:off x="644771" y="1345482"/>
            <a:ext cx="10709031" cy="734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b="0" i="0" sz="2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0" i="0">
                <a:solidFill>
                  <a:schemeClr val="accen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0" i="0">
                <a:solidFill>
                  <a:schemeClr val="accen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0" i="0">
                <a:solidFill>
                  <a:schemeClr val="accen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accen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644773" y="2325836"/>
            <a:ext cx="3296919" cy="38511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3" type="body"/>
          </p:nvPr>
        </p:nvSpPr>
        <p:spPr>
          <a:xfrm>
            <a:off x="4351622" y="2325836"/>
            <a:ext cx="3296919" cy="38511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9"/>
          <p:cNvSpPr txBox="1"/>
          <p:nvPr>
            <p:ph idx="4" type="body"/>
          </p:nvPr>
        </p:nvSpPr>
        <p:spPr>
          <a:xfrm>
            <a:off x="8058471" y="2325836"/>
            <a:ext cx="3296919" cy="38511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9375913" y="627684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ntent">
  <p:cSld name="Four Conten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type="title"/>
          </p:nvPr>
        </p:nvSpPr>
        <p:spPr>
          <a:xfrm>
            <a:off x="644769" y="365125"/>
            <a:ext cx="1071061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" type="body"/>
          </p:nvPr>
        </p:nvSpPr>
        <p:spPr>
          <a:xfrm>
            <a:off x="644526" y="1962352"/>
            <a:ext cx="4954588" cy="1828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2286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indent="-2286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2" type="body"/>
          </p:nvPr>
        </p:nvSpPr>
        <p:spPr>
          <a:xfrm>
            <a:off x="6400803" y="1962352"/>
            <a:ext cx="4954588" cy="1828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2286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indent="-2286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10"/>
          <p:cNvSpPr txBox="1"/>
          <p:nvPr>
            <p:ph idx="3" type="body"/>
          </p:nvPr>
        </p:nvSpPr>
        <p:spPr>
          <a:xfrm>
            <a:off x="644526" y="4119680"/>
            <a:ext cx="4954588" cy="1828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2286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indent="-2286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10"/>
          <p:cNvSpPr txBox="1"/>
          <p:nvPr>
            <p:ph idx="4" type="body"/>
          </p:nvPr>
        </p:nvSpPr>
        <p:spPr>
          <a:xfrm>
            <a:off x="6400803" y="4119680"/>
            <a:ext cx="4954588" cy="1828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2286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indent="-2286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2" type="sldNum"/>
          </p:nvPr>
        </p:nvSpPr>
        <p:spPr>
          <a:xfrm>
            <a:off x="9375913" y="627684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ntent and subhead">
  <p:cSld name="Four Content and subhead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/>
          <p:nvPr>
            <p:ph type="title"/>
          </p:nvPr>
        </p:nvSpPr>
        <p:spPr>
          <a:xfrm>
            <a:off x="646359" y="365127"/>
            <a:ext cx="10709031" cy="734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" type="body"/>
          </p:nvPr>
        </p:nvSpPr>
        <p:spPr>
          <a:xfrm>
            <a:off x="644771" y="1345482"/>
            <a:ext cx="10709031" cy="734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b="0" i="0" sz="2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0" i="0">
                <a:solidFill>
                  <a:schemeClr val="accen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0" i="0">
                <a:solidFill>
                  <a:schemeClr val="accen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0" i="0">
                <a:solidFill>
                  <a:schemeClr val="accen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accen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2" type="body"/>
          </p:nvPr>
        </p:nvSpPr>
        <p:spPr>
          <a:xfrm>
            <a:off x="644526" y="2233235"/>
            <a:ext cx="4954588" cy="16518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2286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indent="-2286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11"/>
          <p:cNvSpPr txBox="1"/>
          <p:nvPr>
            <p:ph idx="3" type="body"/>
          </p:nvPr>
        </p:nvSpPr>
        <p:spPr>
          <a:xfrm>
            <a:off x="6400803" y="2233235"/>
            <a:ext cx="4954588" cy="16518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2286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indent="-2286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11"/>
          <p:cNvSpPr txBox="1"/>
          <p:nvPr>
            <p:ph idx="4" type="body"/>
          </p:nvPr>
        </p:nvSpPr>
        <p:spPr>
          <a:xfrm>
            <a:off x="644526" y="4448441"/>
            <a:ext cx="4954588" cy="16518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2286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indent="-2286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5" type="body"/>
          </p:nvPr>
        </p:nvSpPr>
        <p:spPr>
          <a:xfrm>
            <a:off x="6400803" y="4448441"/>
            <a:ext cx="4954588" cy="16518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2286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indent="-2286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9375913" y="627684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Content">
  <p:cSld name="Five Conten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644769" y="365125"/>
            <a:ext cx="1071061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>
            <a:off x="644771" y="2210082"/>
            <a:ext cx="4572000" cy="3890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2" type="body"/>
          </p:nvPr>
        </p:nvSpPr>
        <p:spPr>
          <a:xfrm>
            <a:off x="5359999" y="2210085"/>
            <a:ext cx="2926080" cy="16518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2286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indent="-2286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3" type="body"/>
          </p:nvPr>
        </p:nvSpPr>
        <p:spPr>
          <a:xfrm>
            <a:off x="8429308" y="2210086"/>
            <a:ext cx="2926080" cy="16518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2286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indent="-2286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4" type="body"/>
          </p:nvPr>
        </p:nvSpPr>
        <p:spPr>
          <a:xfrm>
            <a:off x="5359999" y="4448439"/>
            <a:ext cx="2926080" cy="16518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2286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indent="-2286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5" type="body"/>
          </p:nvPr>
        </p:nvSpPr>
        <p:spPr>
          <a:xfrm>
            <a:off x="8429308" y="4448441"/>
            <a:ext cx="2926080" cy="16518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2286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indent="-2286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9375913" y="627684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Content and subhead">
  <p:cSld name="Five Content and subhead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646359" y="365127"/>
            <a:ext cx="10709031" cy="734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644771" y="1345482"/>
            <a:ext cx="10709031" cy="734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b="0" i="0" sz="2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0" i="0">
                <a:solidFill>
                  <a:schemeClr val="accen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0" i="0">
                <a:solidFill>
                  <a:schemeClr val="accen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0" i="0">
                <a:solidFill>
                  <a:schemeClr val="accen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accen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2" type="body"/>
          </p:nvPr>
        </p:nvSpPr>
        <p:spPr>
          <a:xfrm>
            <a:off x="644771" y="2210082"/>
            <a:ext cx="4572000" cy="3890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3" type="body"/>
          </p:nvPr>
        </p:nvSpPr>
        <p:spPr>
          <a:xfrm>
            <a:off x="5359205" y="2210086"/>
            <a:ext cx="2926080" cy="16518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2286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indent="-2286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4" type="body"/>
          </p:nvPr>
        </p:nvSpPr>
        <p:spPr>
          <a:xfrm>
            <a:off x="8427720" y="2210086"/>
            <a:ext cx="2926080" cy="16518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2286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indent="-2286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5" type="body"/>
          </p:nvPr>
        </p:nvSpPr>
        <p:spPr>
          <a:xfrm>
            <a:off x="5359205" y="4448441"/>
            <a:ext cx="2926080" cy="16518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2286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indent="-2286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idx="6" type="body"/>
          </p:nvPr>
        </p:nvSpPr>
        <p:spPr>
          <a:xfrm>
            <a:off x="8427720" y="4448441"/>
            <a:ext cx="2926080" cy="16518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2286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indent="-2286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13"/>
          <p:cNvSpPr txBox="1"/>
          <p:nvPr>
            <p:ph idx="12" type="sldNum"/>
          </p:nvPr>
        </p:nvSpPr>
        <p:spPr>
          <a:xfrm>
            <a:off x="9375913" y="627684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, Subhead">
  <p:cSld name="Two Content, Subhead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646359" y="365127"/>
            <a:ext cx="10709031" cy="734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4"/>
          <p:cNvSpPr txBox="1"/>
          <p:nvPr>
            <p:ph idx="1" type="body"/>
          </p:nvPr>
        </p:nvSpPr>
        <p:spPr>
          <a:xfrm>
            <a:off x="644771" y="1345482"/>
            <a:ext cx="10709031" cy="734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b="0" i="0" sz="2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0" i="0">
                <a:solidFill>
                  <a:schemeClr val="accen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0" i="0">
                <a:solidFill>
                  <a:schemeClr val="accen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0" i="0">
                <a:solidFill>
                  <a:schemeClr val="accen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accen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14"/>
          <p:cNvSpPr txBox="1"/>
          <p:nvPr>
            <p:ph idx="2" type="body"/>
          </p:nvPr>
        </p:nvSpPr>
        <p:spPr>
          <a:xfrm>
            <a:off x="644769" y="2325836"/>
            <a:ext cx="5181600" cy="38511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14"/>
          <p:cNvSpPr txBox="1"/>
          <p:nvPr>
            <p:ph idx="3" type="body"/>
          </p:nvPr>
        </p:nvSpPr>
        <p:spPr>
          <a:xfrm>
            <a:off x="6172200" y="2325836"/>
            <a:ext cx="5181600" cy="38511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14"/>
          <p:cNvSpPr txBox="1"/>
          <p:nvPr>
            <p:ph idx="12" type="sldNum"/>
          </p:nvPr>
        </p:nvSpPr>
        <p:spPr>
          <a:xfrm>
            <a:off x="9375913" y="627684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644769" y="365125"/>
            <a:ext cx="1071061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644772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98" name="Google Shape;98;p15"/>
          <p:cNvSpPr txBox="1"/>
          <p:nvPr>
            <p:ph idx="2" type="body"/>
          </p:nvPr>
        </p:nvSpPr>
        <p:spPr>
          <a:xfrm>
            <a:off x="644772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5"/>
          <p:cNvSpPr txBox="1"/>
          <p:nvPr>
            <p:ph idx="3" type="body"/>
          </p:nvPr>
        </p:nvSpPr>
        <p:spPr>
          <a:xfrm>
            <a:off x="6172202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0" name="Google Shape;100;p15"/>
          <p:cNvSpPr txBox="1"/>
          <p:nvPr>
            <p:ph idx="4" type="body"/>
          </p:nvPr>
        </p:nvSpPr>
        <p:spPr>
          <a:xfrm>
            <a:off x="6172202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15"/>
          <p:cNvSpPr txBox="1"/>
          <p:nvPr>
            <p:ph idx="12" type="sldNum"/>
          </p:nvPr>
        </p:nvSpPr>
        <p:spPr>
          <a:xfrm>
            <a:off x="9375913" y="627684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644771" y="365125"/>
            <a:ext cx="1070903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6"/>
          <p:cNvSpPr txBox="1"/>
          <p:nvPr>
            <p:ph idx="12" type="sldNum"/>
          </p:nvPr>
        </p:nvSpPr>
        <p:spPr>
          <a:xfrm>
            <a:off x="9375913" y="627684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/>
          <p:nvPr>
            <p:ph idx="12" type="sldNum"/>
          </p:nvPr>
        </p:nvSpPr>
        <p:spPr>
          <a:xfrm>
            <a:off x="9375913" y="627684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>
  <p:cSld name="1_Blank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1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>
            <p:ph idx="12" type="sldNum"/>
          </p:nvPr>
        </p:nvSpPr>
        <p:spPr>
          <a:xfrm>
            <a:off x="9375913" y="627684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1" name="Google Shape;111;p19"/>
          <p:cNvSpPr txBox="1"/>
          <p:nvPr>
            <p:ph idx="1" type="body"/>
          </p:nvPr>
        </p:nvSpPr>
        <p:spPr>
          <a:xfrm>
            <a:off x="5183188" y="987428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▪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-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-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-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-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12" name="Google Shape;112;p19"/>
          <p:cNvSpPr txBox="1"/>
          <p:nvPr>
            <p:ph idx="2" type="body"/>
          </p:nvPr>
        </p:nvSpPr>
        <p:spPr>
          <a:xfrm>
            <a:off x="644773" y="2057402"/>
            <a:ext cx="412725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13" name="Google Shape;113;p19"/>
          <p:cNvSpPr txBox="1"/>
          <p:nvPr>
            <p:ph type="title"/>
          </p:nvPr>
        </p:nvSpPr>
        <p:spPr>
          <a:xfrm>
            <a:off x="644773" y="457200"/>
            <a:ext cx="412725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644773" y="457200"/>
            <a:ext cx="412725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0"/>
          <p:cNvSpPr txBox="1"/>
          <p:nvPr>
            <p:ph idx="1" type="body"/>
          </p:nvPr>
        </p:nvSpPr>
        <p:spPr>
          <a:xfrm>
            <a:off x="644773" y="2057402"/>
            <a:ext cx="412725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17" name="Google Shape;117;p20"/>
          <p:cNvSpPr/>
          <p:nvPr>
            <p:ph idx="2" type="pic"/>
          </p:nvPr>
        </p:nvSpPr>
        <p:spPr>
          <a:xfrm>
            <a:off x="5183188" y="987428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20"/>
          <p:cNvSpPr txBox="1"/>
          <p:nvPr>
            <p:ph idx="12" type="sldNum"/>
          </p:nvPr>
        </p:nvSpPr>
        <p:spPr>
          <a:xfrm>
            <a:off x="9375913" y="627684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title"/>
          </p:nvPr>
        </p:nvSpPr>
        <p:spPr>
          <a:xfrm>
            <a:off x="644771" y="365125"/>
            <a:ext cx="1070903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1"/>
          <p:cNvSpPr txBox="1"/>
          <p:nvPr>
            <p:ph idx="1" type="body"/>
          </p:nvPr>
        </p:nvSpPr>
        <p:spPr>
          <a:xfrm rot="5400000">
            <a:off x="3881699" y="-1411302"/>
            <a:ext cx="4235176" cy="10709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>
            <p:ph type="title"/>
          </p:nvPr>
        </p:nvSpPr>
        <p:spPr>
          <a:xfrm rot="5400000">
            <a:off x="7133433" y="1956597"/>
            <a:ext cx="5811839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2"/>
          <p:cNvSpPr txBox="1"/>
          <p:nvPr>
            <p:ph idx="1" type="body"/>
          </p:nvPr>
        </p:nvSpPr>
        <p:spPr>
          <a:xfrm rot="5400000">
            <a:off x="1702715" y="-692819"/>
            <a:ext cx="5811839" cy="79277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10.xml"/><Relationship Id="rId22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9.xml"/><Relationship Id="rId21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23" Type="http://schemas.openxmlformats.org/officeDocument/2006/relationships/theme" Target="../theme/theme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/>
          <p:nvPr>
            <p:ph type="title"/>
          </p:nvPr>
        </p:nvSpPr>
        <p:spPr>
          <a:xfrm>
            <a:off x="644771" y="365125"/>
            <a:ext cx="1070903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"/>
          <p:cNvSpPr txBox="1"/>
          <p:nvPr>
            <p:ph idx="1" type="body"/>
          </p:nvPr>
        </p:nvSpPr>
        <p:spPr>
          <a:xfrm>
            <a:off x="644771" y="1825625"/>
            <a:ext cx="10709031" cy="4235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TR"/>
              <a:buChar char="-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TR"/>
              <a:buChar char="-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TR"/>
              <a:buChar char="-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NTR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2" type="sldNum"/>
          </p:nvPr>
        </p:nvSpPr>
        <p:spPr>
          <a:xfrm>
            <a:off x="9375913" y="627684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>
            <p:ph type="ctrTitle"/>
          </p:nvPr>
        </p:nvSpPr>
        <p:spPr>
          <a:xfrm>
            <a:off x="4249881" y="2504921"/>
            <a:ext cx="7280733" cy="20615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-US"/>
              <a:t>  </a:t>
            </a:r>
            <a:r>
              <a:rPr lang="en-US"/>
              <a:t>Knowledge Graphs for System Integration Risk</a:t>
            </a:r>
            <a:endParaRPr/>
          </a:p>
        </p:txBody>
      </p:sp>
      <p:sp>
        <p:nvSpPr>
          <p:cNvPr id="130" name="Google Shape;130;p23"/>
          <p:cNvSpPr txBox="1"/>
          <p:nvPr>
            <p:ph idx="1" type="subTitle"/>
          </p:nvPr>
        </p:nvSpPr>
        <p:spPr>
          <a:xfrm>
            <a:off x="4488873" y="4591369"/>
            <a:ext cx="7041742" cy="9346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 LMS Architecture &amp; AWS Dependencies 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  EM626 - AI/ML for Systems</a:t>
            </a:r>
            <a:endParaRPr/>
          </a:p>
        </p:txBody>
      </p:sp>
      <p:sp>
        <p:nvSpPr>
          <p:cNvPr id="131" name="Google Shape;131;p23"/>
          <p:cNvSpPr txBox="1"/>
          <p:nvPr>
            <p:ph idx="2" type="body"/>
          </p:nvPr>
        </p:nvSpPr>
        <p:spPr>
          <a:xfrm>
            <a:off x="4675910" y="5690085"/>
            <a:ext cx="6854708" cy="4225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Annanya Chaturvedi, Yashvi Shah, Krish Tarkar</a:t>
            </a:r>
            <a:endParaRPr/>
          </a:p>
        </p:txBody>
      </p:sp>
      <p:sp>
        <p:nvSpPr>
          <p:cNvPr id="132" name="Google Shape;132;p23"/>
          <p:cNvSpPr txBox="1"/>
          <p:nvPr>
            <p:ph idx="10" type="dt"/>
          </p:nvPr>
        </p:nvSpPr>
        <p:spPr>
          <a:xfrm>
            <a:off x="10416209" y="6342033"/>
            <a:ext cx="1114406" cy="24622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11/03/2025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>
            <p:ph type="title"/>
          </p:nvPr>
        </p:nvSpPr>
        <p:spPr>
          <a:xfrm>
            <a:off x="646350" y="170500"/>
            <a:ext cx="10709100" cy="701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lang="en-US" sz="3533"/>
              <a:t>Motivation - The AWS Outage Problem</a:t>
            </a:r>
            <a:endParaRPr sz="4300"/>
          </a:p>
        </p:txBody>
      </p:sp>
      <p:sp>
        <p:nvSpPr>
          <p:cNvPr id="139" name="Google Shape;139;p24"/>
          <p:cNvSpPr txBox="1"/>
          <p:nvPr>
            <p:ph idx="2" type="body"/>
          </p:nvPr>
        </p:nvSpPr>
        <p:spPr>
          <a:xfrm>
            <a:off x="646350" y="629150"/>
            <a:ext cx="11183400" cy="584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0000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950">
              <a:solidFill>
                <a:srgbClr val="000000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950">
                <a:solidFill>
                  <a:srgbClr val="000000"/>
                </a:solidFill>
              </a:rPr>
              <a:t>Event</a:t>
            </a:r>
            <a:r>
              <a:rPr lang="en-US" sz="2950">
                <a:solidFill>
                  <a:srgbClr val="000000"/>
                </a:solidFill>
              </a:rPr>
              <a:t> :- </a:t>
            </a:r>
            <a:r>
              <a:rPr lang="en-US" sz="2950">
                <a:solidFill>
                  <a:srgbClr val="000000"/>
                </a:solidFill>
              </a:rPr>
              <a:t> On October 20, 2025, the AWS us-east-1 region experienced a widespread service disruption starting at  2:48 AM ET.</a:t>
            </a:r>
            <a:endParaRPr sz="2950">
              <a:solidFill>
                <a:srgbClr val="000000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950">
                <a:solidFill>
                  <a:srgbClr val="000000"/>
                </a:solidFill>
              </a:rPr>
              <a:t>Duration</a:t>
            </a:r>
            <a:r>
              <a:rPr i="1" lang="en-US" sz="2950">
                <a:solidFill>
                  <a:srgbClr val="000000"/>
                </a:solidFill>
              </a:rPr>
              <a:t>:</a:t>
            </a:r>
            <a:r>
              <a:rPr lang="en-US" sz="2950">
                <a:solidFill>
                  <a:srgbClr val="000000"/>
                </a:solidFill>
              </a:rPr>
              <a:t> Approximately 14 hours and 30 minutes, with full recovery by 5:20 PM ET on October 20, 2025.</a:t>
            </a:r>
            <a:endParaRPr sz="2950">
              <a:solidFill>
                <a:srgbClr val="000000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950">
                <a:solidFill>
                  <a:srgbClr val="000000"/>
                </a:solidFill>
              </a:rPr>
              <a:t>Major education platforms like Canvas LMS were disrupted, Millions of students lost access to courses, and final exams were postponed at multiple universities.</a:t>
            </a:r>
            <a:endParaRPr sz="2950">
              <a:solidFill>
                <a:srgbClr val="000000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950">
                <a:solidFill>
                  <a:srgbClr val="000000"/>
                </a:solidFill>
              </a:rPr>
              <a:t>Root Cause:</a:t>
            </a:r>
            <a:r>
              <a:rPr lang="en-US" sz="2950">
                <a:solidFill>
                  <a:srgbClr val="000000"/>
                </a:solidFill>
              </a:rPr>
              <a:t> Network device issues that cascaded through dependent services.</a:t>
            </a:r>
            <a:endParaRPr sz="2950">
              <a:solidFill>
                <a:srgbClr val="000000"/>
              </a:solidFill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</p:txBody>
      </p:sp>
      <p:sp>
        <p:nvSpPr>
          <p:cNvPr id="140" name="Google Shape;140;p24"/>
          <p:cNvSpPr txBox="1"/>
          <p:nvPr>
            <p:ph idx="12" type="sldNum"/>
          </p:nvPr>
        </p:nvSpPr>
        <p:spPr>
          <a:xfrm>
            <a:off x="9375913" y="627684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1" name="Google Shape;141;p24" title="ChatGPT Image Nov 3, 2025, 03_56_28 PM.png"/>
          <p:cNvPicPr preferRelativeResize="0"/>
          <p:nvPr/>
        </p:nvPicPr>
        <p:blipFill rotWithShape="1">
          <a:blip r:embed="rId3">
            <a:alphaModFix/>
          </a:blip>
          <a:srcRect b="12901" l="0" r="0" t="12136"/>
          <a:stretch/>
        </p:blipFill>
        <p:spPr>
          <a:xfrm>
            <a:off x="1880025" y="871600"/>
            <a:ext cx="8241777" cy="287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 txBox="1"/>
          <p:nvPr>
            <p:ph type="title"/>
          </p:nvPr>
        </p:nvSpPr>
        <p:spPr>
          <a:xfrm>
            <a:off x="646359" y="365127"/>
            <a:ext cx="10709031" cy="734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3500"/>
              <a:t>Project Goals</a:t>
            </a:r>
            <a:endParaRPr sz="3500"/>
          </a:p>
        </p:txBody>
      </p:sp>
      <p:sp>
        <p:nvSpPr>
          <p:cNvPr id="147" name="Google Shape;147;p25"/>
          <p:cNvSpPr txBox="1"/>
          <p:nvPr>
            <p:ph idx="1" type="body"/>
          </p:nvPr>
        </p:nvSpPr>
        <p:spPr>
          <a:xfrm>
            <a:off x="644775" y="1345437"/>
            <a:ext cx="10709100" cy="47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Objectives:</a:t>
            </a:r>
            <a:endParaRPr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en-US">
                <a:solidFill>
                  <a:schemeClr val="dk1"/>
                </a:solidFill>
              </a:rPr>
              <a:t>Model a realistic LMS architecture on AWS (with 22 components).</a:t>
            </a:r>
            <a:endParaRPr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en-US">
                <a:solidFill>
                  <a:schemeClr val="dk1"/>
                </a:solidFill>
              </a:rPr>
              <a:t>Extract components and dependencies automatically using an LLM.</a:t>
            </a:r>
            <a:endParaRPr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en-US">
                <a:solidFill>
                  <a:schemeClr val="dk1"/>
                </a:solidFill>
              </a:rPr>
              <a:t>Construct a knowledge graph of the system's dependencies.</a:t>
            </a:r>
            <a:endParaRPr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en-US">
                <a:solidFill>
                  <a:schemeClr val="dk1"/>
                </a:solidFill>
              </a:rPr>
              <a:t>Analyze integration risks using graph metrics (like centrality).</a:t>
            </a:r>
            <a:endParaRPr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en-US">
                <a:solidFill>
                  <a:schemeClr val="dk1"/>
                </a:solidFill>
              </a:rPr>
              <a:t>Predict high-risk components using a Graph Neural Network (GNN) (This is our post-midterm goal).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Expected Outcomes:</a:t>
            </a:r>
            <a:endParaRPr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en-US">
                <a:solidFill>
                  <a:schemeClr val="dk1"/>
                </a:solidFill>
              </a:rPr>
              <a:t>Identify critical components, including non-obvious ones.</a:t>
            </a:r>
            <a:endParaRPr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en-US">
                <a:solidFill>
                  <a:schemeClr val="dk1"/>
                </a:solidFill>
              </a:rPr>
              <a:t>Understand and visualize failure cascade patterns.</a:t>
            </a:r>
            <a:endParaRPr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en-US">
                <a:solidFill>
                  <a:schemeClr val="dk1"/>
                </a:solidFill>
              </a:rPr>
              <a:t>Provide data-driven design recommendations for resili</a:t>
            </a:r>
            <a:r>
              <a:rPr lang="en-US">
                <a:solidFill>
                  <a:schemeClr val="dk1"/>
                </a:solidFill>
              </a:rPr>
              <a:t>ence</a:t>
            </a:r>
            <a:r>
              <a:rPr lang="en-U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25"/>
          <p:cNvSpPr txBox="1"/>
          <p:nvPr>
            <p:ph idx="12" type="sldNum"/>
          </p:nvPr>
        </p:nvSpPr>
        <p:spPr>
          <a:xfrm>
            <a:off x="9375913" y="627684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6"/>
          <p:cNvSpPr txBox="1"/>
          <p:nvPr>
            <p:ph type="title"/>
          </p:nvPr>
        </p:nvSpPr>
        <p:spPr>
          <a:xfrm>
            <a:off x="646359" y="365127"/>
            <a:ext cx="107091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/>
              <a:t> </a:t>
            </a:r>
            <a:r>
              <a:rPr lang="en-US" sz="3500"/>
              <a:t>Pipeline Architecture</a:t>
            </a:r>
            <a:endParaRPr sz="3500"/>
          </a:p>
        </p:txBody>
      </p:sp>
      <p:sp>
        <p:nvSpPr>
          <p:cNvPr id="154" name="Google Shape;154;p26"/>
          <p:cNvSpPr txBox="1"/>
          <p:nvPr>
            <p:ph idx="1" type="body"/>
          </p:nvPr>
        </p:nvSpPr>
        <p:spPr>
          <a:xfrm>
            <a:off x="0" y="1331987"/>
            <a:ext cx="10709100" cy="47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155" name="Google Shape;155;p26"/>
          <p:cNvSpPr txBox="1"/>
          <p:nvPr>
            <p:ph idx="12" type="sldNum"/>
          </p:nvPr>
        </p:nvSpPr>
        <p:spPr>
          <a:xfrm>
            <a:off x="9375913" y="627684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6" name="Google Shape;156;p26" title="Gemini_Generated_Image_o6qp58o6qp58o6qp[1].png"/>
          <p:cNvPicPr preferRelativeResize="0"/>
          <p:nvPr/>
        </p:nvPicPr>
        <p:blipFill rotWithShape="1">
          <a:blip r:embed="rId3">
            <a:alphaModFix/>
          </a:blip>
          <a:srcRect b="3485" l="14937" r="14634" t="2555"/>
          <a:stretch/>
        </p:blipFill>
        <p:spPr>
          <a:xfrm>
            <a:off x="2824700" y="908925"/>
            <a:ext cx="6759626" cy="5367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7"/>
          <p:cNvSpPr txBox="1"/>
          <p:nvPr>
            <p:ph type="title"/>
          </p:nvPr>
        </p:nvSpPr>
        <p:spPr>
          <a:xfrm>
            <a:off x="646359" y="365127"/>
            <a:ext cx="10709100" cy="734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3500"/>
              <a:t>System Architecture Overview</a:t>
            </a:r>
            <a:endParaRPr sz="3500"/>
          </a:p>
        </p:txBody>
      </p:sp>
      <p:sp>
        <p:nvSpPr>
          <p:cNvPr id="162" name="Google Shape;162;p27"/>
          <p:cNvSpPr txBox="1"/>
          <p:nvPr>
            <p:ph idx="4294967295" type="body"/>
          </p:nvPr>
        </p:nvSpPr>
        <p:spPr>
          <a:xfrm>
            <a:off x="646350" y="1323375"/>
            <a:ext cx="5201400" cy="4634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0000"/>
                </a:solidFill>
              </a:rPr>
              <a:t>Categories:</a:t>
            </a:r>
            <a:endParaRPr b="1" sz="2400">
              <a:solidFill>
                <a:srgbClr val="000000"/>
              </a:solidFill>
            </a:endParaRPr>
          </a:p>
          <a:p>
            <a:pPr indent="-35814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-US" sz="2400">
                <a:solidFill>
                  <a:srgbClr val="000000"/>
                </a:solidFill>
              </a:rPr>
              <a:t>Application Services (8):</a:t>
            </a:r>
            <a:r>
              <a:rPr lang="en-US" sz="2400">
                <a:solidFill>
                  <a:srgbClr val="000000"/>
                </a:solidFill>
              </a:rPr>
              <a:t> API Gateway, Auth, User Mgmt, Course Mgmt, Content Delivery, etc.</a:t>
            </a:r>
            <a:endParaRPr sz="2400">
              <a:solidFill>
                <a:srgbClr val="000000"/>
              </a:solidFill>
            </a:endParaRPr>
          </a:p>
          <a:p>
            <a:pPr indent="-35814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-US" sz="2400">
                <a:solidFill>
                  <a:srgbClr val="000000"/>
                </a:solidFill>
              </a:rPr>
              <a:t>Infrastructure (6):</a:t>
            </a:r>
            <a:r>
              <a:rPr lang="en-US" sz="2400">
                <a:solidFill>
                  <a:srgbClr val="000000"/>
                </a:solidFill>
              </a:rPr>
              <a:t> Load Balancer, RDS Database, ElastiCache, SQS, CloudWatch, etc.</a:t>
            </a:r>
            <a:endParaRPr sz="2400">
              <a:solidFill>
                <a:srgbClr val="000000"/>
              </a:solidFill>
            </a:endParaRPr>
          </a:p>
          <a:p>
            <a:pPr indent="-35814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-US" sz="2400">
                <a:solidFill>
                  <a:srgbClr val="000000"/>
                </a:solidFill>
              </a:rPr>
              <a:t>Storage (3):</a:t>
            </a:r>
            <a:r>
              <a:rPr lang="en-US" sz="2400">
                <a:solidFill>
                  <a:srgbClr val="000000"/>
                </a:solidFill>
              </a:rPr>
              <a:t> S3 Object Storage, Redshift, OpenSearch</a:t>
            </a:r>
            <a:endParaRPr sz="2400">
              <a:solidFill>
                <a:srgbClr val="000000"/>
              </a:solidFill>
            </a:endParaRPr>
          </a:p>
          <a:p>
            <a:pPr indent="-35814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-US" sz="2400">
                <a:solidFill>
                  <a:srgbClr val="000000"/>
                </a:solidFill>
              </a:rPr>
              <a:t>Network (3):</a:t>
            </a:r>
            <a:r>
              <a:rPr lang="en-US" sz="2400">
                <a:solidFill>
                  <a:srgbClr val="000000"/>
                </a:solidFill>
              </a:rPr>
              <a:t> CloudFront CDN, VPC, DNS</a:t>
            </a:r>
            <a:endParaRPr sz="2400">
              <a:solidFill>
                <a:srgbClr val="000000"/>
              </a:solidFill>
            </a:endParaRPr>
          </a:p>
          <a:p>
            <a:pPr indent="-35814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-US" sz="2400">
                <a:solidFill>
                  <a:srgbClr val="000000"/>
                </a:solidFill>
              </a:rPr>
              <a:t>Security (2):</a:t>
            </a:r>
            <a:r>
              <a:rPr lang="en-US" sz="2400">
                <a:solidFill>
                  <a:srgbClr val="000000"/>
                </a:solidFill>
              </a:rPr>
              <a:t> WAF/Shield, IAM/Cognito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7"/>
          <p:cNvSpPr txBox="1"/>
          <p:nvPr>
            <p:ph idx="4294967295" type="body"/>
          </p:nvPr>
        </p:nvSpPr>
        <p:spPr>
          <a:xfrm>
            <a:off x="6042750" y="1323375"/>
            <a:ext cx="5312700" cy="4634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</a:rPr>
              <a:t>Key Dependencies (Preliminary):</a:t>
            </a:r>
            <a:endParaRPr b="1" sz="2000">
              <a:solidFill>
                <a:srgbClr val="000000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1" lang="en-US" sz="2000">
                <a:solidFill>
                  <a:srgbClr val="000000"/>
                </a:solidFill>
              </a:rPr>
              <a:t>API Gateway -&gt;</a:t>
            </a:r>
            <a:r>
              <a:rPr lang="en-US" sz="2000">
                <a:solidFill>
                  <a:srgbClr val="000000"/>
                </a:solidFill>
              </a:rPr>
              <a:t> routes all service calls</a:t>
            </a:r>
            <a:endParaRPr baseline="30000" sz="2000">
              <a:solidFill>
                <a:srgbClr val="000000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1" lang="en-US" sz="2000">
                <a:solidFill>
                  <a:srgbClr val="000000"/>
                </a:solidFill>
              </a:rPr>
              <a:t>RDS Database -&gt;</a:t>
            </a:r>
            <a:r>
              <a:rPr lang="en-US" sz="2000">
                <a:solidFill>
                  <a:srgbClr val="000000"/>
                </a:solidFill>
              </a:rPr>
              <a:t> </a:t>
            </a:r>
            <a:r>
              <a:rPr lang="en-US" sz="2000">
                <a:solidFill>
                  <a:srgbClr val="000000"/>
                </a:solidFill>
              </a:rPr>
              <a:t>stores core data for 15+ services</a:t>
            </a:r>
            <a:endParaRPr sz="2000">
              <a:solidFill>
                <a:srgbClr val="000000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1" lang="en-US" sz="2000">
                <a:solidFill>
                  <a:srgbClr val="000000"/>
                </a:solidFill>
              </a:rPr>
              <a:t>S3 Storage -&gt;</a:t>
            </a:r>
            <a:r>
              <a:rPr lang="en-US" sz="2000">
                <a:solidFill>
                  <a:srgbClr val="000000"/>
                </a:solidFill>
              </a:rPr>
              <a:t> holds all course content</a:t>
            </a:r>
            <a:endParaRPr baseline="30000" sz="2000">
              <a:solidFill>
                <a:srgbClr val="000000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1" lang="en-US" sz="2000">
                <a:solidFill>
                  <a:srgbClr val="000000"/>
                </a:solidFill>
              </a:rPr>
              <a:t>Authentication Service -&gt;</a:t>
            </a:r>
            <a:r>
              <a:rPr lang="en-US" sz="2000">
                <a:solidFill>
                  <a:srgbClr val="000000"/>
                </a:solidFill>
              </a:rPr>
              <a:t> </a:t>
            </a:r>
            <a:r>
              <a:rPr lang="en-US" sz="2000">
                <a:solidFill>
                  <a:srgbClr val="000000"/>
                </a:solidFill>
              </a:rPr>
              <a:t>gates all system access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/>
          <p:cNvSpPr txBox="1"/>
          <p:nvPr>
            <p:ph type="title"/>
          </p:nvPr>
        </p:nvSpPr>
        <p:spPr>
          <a:xfrm>
            <a:off x="646359" y="365127"/>
            <a:ext cx="10709100" cy="734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/>
              <a:t>LLM-Based Component Extraction</a:t>
            </a:r>
            <a:endParaRPr sz="3500"/>
          </a:p>
        </p:txBody>
      </p:sp>
      <p:sp>
        <p:nvSpPr>
          <p:cNvPr id="170" name="Google Shape;170;p28"/>
          <p:cNvSpPr txBox="1"/>
          <p:nvPr>
            <p:ph idx="2" type="body"/>
          </p:nvPr>
        </p:nvSpPr>
        <p:spPr>
          <a:xfrm>
            <a:off x="646350" y="1111650"/>
            <a:ext cx="10709100" cy="4634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/>
              <a:t>Approach:</a:t>
            </a:r>
            <a:endParaRPr b="1" sz="2000"/>
          </a:p>
          <a:p>
            <a:pPr indent="-3556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b="1" lang="en-US" sz="2000"/>
              <a:t>Input:</a:t>
            </a:r>
            <a:r>
              <a:rPr lang="en-US" sz="2000"/>
              <a:t> 3,500+ word free-text system description (lms_system_description.txt) </a:t>
            </a:r>
            <a:endParaRPr baseline="30000" sz="2000"/>
          </a:p>
          <a:p>
            <a:pPr indent="-3556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b="1" lang="en-US" sz="2000"/>
              <a:t>LLM:</a:t>
            </a:r>
            <a:r>
              <a:rPr lang="en-US" sz="2000"/>
              <a:t> GPT-5, using a two-stage (Extract + Validate) prompt</a:t>
            </a:r>
            <a:endParaRPr sz="2000"/>
          </a:p>
          <a:p>
            <a:pPr indent="-3556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b="1" lang="en-US" sz="2000"/>
              <a:t>Output:</a:t>
            </a:r>
            <a:r>
              <a:rPr lang="en-US" sz="2000"/>
              <a:t> Structured ‘extracted_components.json file’</a:t>
            </a:r>
            <a:endParaRPr baseline="30000" sz="20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/>
              <a:t>Prompt Engineering:</a:t>
            </a:r>
            <a:endParaRPr b="1" sz="2000"/>
          </a:p>
          <a:p>
            <a:pPr indent="-3556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b="1" lang="en-US" sz="2000"/>
              <a:t>Model:</a:t>
            </a:r>
            <a:r>
              <a:rPr lang="en-US" sz="2000"/>
              <a:t> Gemini 2.5 Pro</a:t>
            </a:r>
            <a:endParaRPr baseline="30000" sz="2000"/>
          </a:p>
          <a:p>
            <a:pPr indent="-3556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b="1" lang="en-US" sz="2000"/>
              <a:t>Format:</a:t>
            </a:r>
            <a:r>
              <a:rPr lang="en-US" sz="2000"/>
              <a:t> Strict JSON schema specified in the prompt</a:t>
            </a:r>
            <a:endParaRPr baseline="30000" sz="2000"/>
          </a:p>
          <a:p>
            <a:pPr indent="-3556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b="1" lang="en-US" sz="2000"/>
              <a:t>Validation:</a:t>
            </a:r>
            <a:r>
              <a:rPr lang="en-US" sz="2000"/>
              <a:t> A secondary prompt checks the first output for errors and consistency</a:t>
            </a:r>
            <a:endParaRPr baseline="30000" sz="20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/>
              <a:t>Results (Completed):</a:t>
            </a:r>
            <a:endParaRPr b="1" sz="2000"/>
          </a:p>
          <a:p>
            <a:pPr indent="-3556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Successfully extracted all </a:t>
            </a:r>
            <a:r>
              <a:rPr b="1" lang="en-US" sz="2000"/>
              <a:t>22 components</a:t>
            </a:r>
            <a:endParaRPr baseline="30000" sz="2000"/>
          </a:p>
          <a:p>
            <a:pPr indent="-3556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I</a:t>
            </a:r>
            <a:r>
              <a:rPr lang="en-US" sz="2000"/>
              <a:t>dentified</a:t>
            </a:r>
            <a:r>
              <a:rPr lang="en-US" sz="2000"/>
              <a:t> </a:t>
            </a:r>
            <a:r>
              <a:rPr b="1" lang="en-US" sz="2000"/>
              <a:t>38 dependency relationships</a:t>
            </a:r>
            <a:r>
              <a:rPr lang="en-US" sz="2000"/>
              <a:t> (edges)</a:t>
            </a:r>
            <a:endParaRPr baseline="30000" sz="2000"/>
          </a:p>
          <a:p>
            <a:pPr indent="-3556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▪"/>
            </a:pPr>
            <a:r>
              <a:rPr lang="en-US" sz="2000"/>
              <a:t>Validated all dependencies (no dangling edges)</a:t>
            </a:r>
            <a:endParaRPr sz="2000"/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100">
              <a:solidFill>
                <a:srgbClr val="000000"/>
              </a:solidFill>
            </a:endParaRPr>
          </a:p>
        </p:txBody>
      </p:sp>
      <p:sp>
        <p:nvSpPr>
          <p:cNvPr id="171" name="Google Shape;171;p28"/>
          <p:cNvSpPr txBox="1"/>
          <p:nvPr>
            <p:ph idx="12" type="sldNum"/>
          </p:nvPr>
        </p:nvSpPr>
        <p:spPr>
          <a:xfrm>
            <a:off x="9375913" y="627684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9"/>
          <p:cNvSpPr txBox="1"/>
          <p:nvPr>
            <p:ph idx="12" type="sldNum"/>
          </p:nvPr>
        </p:nvSpPr>
        <p:spPr>
          <a:xfrm>
            <a:off x="9375913" y="627684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8" name="Google Shape;178;p29" title="system_graph.png"/>
          <p:cNvPicPr preferRelativeResize="0"/>
          <p:nvPr/>
        </p:nvPicPr>
        <p:blipFill rotWithShape="1">
          <a:blip r:embed="rId3">
            <a:alphaModFix/>
          </a:blip>
          <a:srcRect b="3947" l="6016" r="5118" t="0"/>
          <a:stretch/>
        </p:blipFill>
        <p:spPr>
          <a:xfrm>
            <a:off x="945475" y="191775"/>
            <a:ext cx="10301051" cy="60850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0"/>
          <p:cNvSpPr txBox="1"/>
          <p:nvPr>
            <p:ph type="title"/>
          </p:nvPr>
        </p:nvSpPr>
        <p:spPr>
          <a:xfrm>
            <a:off x="745350" y="586050"/>
            <a:ext cx="10701300" cy="701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60"/>
              <a:buFont typeface="Arial"/>
              <a:buNone/>
            </a:pPr>
            <a:r>
              <a:rPr lang="en-US" sz="3509"/>
              <a:t>Preliminary Results: Critical Components</a:t>
            </a:r>
            <a:endParaRPr sz="5760"/>
          </a:p>
        </p:txBody>
      </p:sp>
      <p:sp>
        <p:nvSpPr>
          <p:cNvPr id="184" name="Google Shape;184;p30"/>
          <p:cNvSpPr txBox="1"/>
          <p:nvPr>
            <p:ph idx="1" type="body"/>
          </p:nvPr>
        </p:nvSpPr>
        <p:spPr>
          <a:xfrm>
            <a:off x="859400" y="4150250"/>
            <a:ext cx="5179500" cy="22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b="1" lang="en-US" sz="1811">
                <a:solidFill>
                  <a:srgbClr val="000000"/>
                </a:solidFill>
              </a:rPr>
              <a:t>Key Insights:</a:t>
            </a:r>
            <a:endParaRPr b="1" sz="1811">
              <a:solidFill>
                <a:srgbClr val="000000"/>
              </a:solidFill>
            </a:endParaRPr>
          </a:p>
          <a:p>
            <a:pPr indent="-343637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12"/>
              <a:buFont typeface="Arial"/>
              <a:buChar char="●"/>
            </a:pPr>
            <a:r>
              <a:rPr b="1" lang="en-US" sz="1811">
                <a:solidFill>
                  <a:srgbClr val="000000"/>
                </a:solidFill>
              </a:rPr>
              <a:t>API Gateway</a:t>
            </a:r>
            <a:r>
              <a:rPr lang="en-US" sz="1811">
                <a:solidFill>
                  <a:srgbClr val="000000"/>
                </a:solidFill>
              </a:rPr>
              <a:t> is the single routing point for 12 services.</a:t>
            </a:r>
            <a:endParaRPr sz="1811">
              <a:solidFill>
                <a:srgbClr val="000000"/>
              </a:solidFill>
            </a:endParaRPr>
          </a:p>
          <a:p>
            <a:pPr indent="-343637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2"/>
              <a:buFont typeface="Arial"/>
              <a:buChar char="●"/>
            </a:pPr>
            <a:r>
              <a:rPr b="1" lang="en-US" sz="1811">
                <a:solidFill>
                  <a:srgbClr val="000000"/>
                </a:solidFill>
              </a:rPr>
              <a:t>RDS Database</a:t>
            </a:r>
            <a:r>
              <a:rPr lang="en-US" sz="1811">
                <a:solidFill>
                  <a:srgbClr val="000000"/>
                </a:solidFill>
              </a:rPr>
              <a:t> is the central data store for 15 services.</a:t>
            </a:r>
            <a:endParaRPr sz="1811">
              <a:solidFill>
                <a:srgbClr val="000000"/>
              </a:solidFill>
            </a:endParaRPr>
          </a:p>
          <a:p>
            <a:pPr indent="-343637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2"/>
              <a:buFont typeface="Arial"/>
              <a:buChar char="●"/>
            </a:pPr>
            <a:r>
              <a:rPr b="1" lang="en-US" sz="1811">
                <a:solidFill>
                  <a:srgbClr val="000000"/>
                </a:solidFill>
              </a:rPr>
              <a:t>High "Betweenness"</a:t>
            </a:r>
            <a:r>
              <a:rPr lang="en-US" sz="1811">
                <a:solidFill>
                  <a:srgbClr val="000000"/>
                </a:solidFill>
              </a:rPr>
              <a:t> (like 0.45) confirms these nodes are critical bottlenecks in the system's information flow.</a:t>
            </a:r>
            <a:endParaRPr sz="1100"/>
          </a:p>
        </p:txBody>
      </p:sp>
      <p:graphicFrame>
        <p:nvGraphicFramePr>
          <p:cNvPr id="185" name="Google Shape;185;p30"/>
          <p:cNvGraphicFramePr/>
          <p:nvPr/>
        </p:nvGraphicFramePr>
        <p:xfrm>
          <a:off x="952500" y="1681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{E3F91882-B05D-4EDA-BA38-8FBEF23E1434}</a:tableStyleId>
              </a:tblPr>
              <a:tblGrid>
                <a:gridCol w="618350"/>
                <a:gridCol w="2192300"/>
                <a:gridCol w="1686400"/>
                <a:gridCol w="1798825"/>
                <a:gridCol w="1812875"/>
                <a:gridCol w="21782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Rank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Component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In-Degree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Out-Degree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Betweenness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Criticality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API Gateway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0.45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Critical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RDS Database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0.38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Critical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Authentication </a:t>
                      </a:r>
                      <a:r>
                        <a:rPr lang="en-US"/>
                        <a:t>Service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0.32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Critical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S3 Storage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0.28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Critical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Load Balancer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0.25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High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86" name="Google Shape;186;p30"/>
          <p:cNvSpPr txBox="1"/>
          <p:nvPr>
            <p:ph idx="1" type="body"/>
          </p:nvPr>
        </p:nvSpPr>
        <p:spPr>
          <a:xfrm>
            <a:off x="6197500" y="4227825"/>
            <a:ext cx="5042100" cy="23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000000"/>
                </a:solidFill>
              </a:rPr>
              <a:t>Failure Cascade Example:</a:t>
            </a:r>
            <a:endParaRPr b="1"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lang="en-US" sz="1900">
                <a:solidFill>
                  <a:srgbClr val="000000"/>
                </a:solidFill>
              </a:rPr>
              <a:t>If the </a:t>
            </a:r>
            <a:r>
              <a:rPr b="1" lang="en-US" sz="1900">
                <a:solidFill>
                  <a:srgbClr val="000000"/>
                </a:solidFill>
              </a:rPr>
              <a:t>RDS Database</a:t>
            </a:r>
            <a:r>
              <a:rPr lang="en-US" sz="1900">
                <a:solidFill>
                  <a:srgbClr val="000000"/>
                </a:solidFill>
              </a:rPr>
              <a:t> fails -&gt; </a:t>
            </a:r>
            <a:r>
              <a:rPr b="1" lang="en-US" sz="1900">
                <a:solidFill>
                  <a:srgbClr val="000000"/>
                </a:solidFill>
              </a:rPr>
              <a:t>15</a:t>
            </a:r>
            <a:r>
              <a:rPr lang="en-US" sz="1900">
                <a:solidFill>
                  <a:srgbClr val="000000"/>
                </a:solidFill>
              </a:rPr>
              <a:t> dependent services lose data access -&gt; resulting in an estimated </a:t>
            </a:r>
            <a:r>
              <a:rPr b="1" lang="en-US" sz="1900">
                <a:solidFill>
                  <a:srgbClr val="000000"/>
                </a:solidFill>
              </a:rPr>
              <a:t>~68% system failure.</a:t>
            </a:r>
            <a:endParaRPr sz="2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1"/>
          <p:cNvSpPr txBox="1"/>
          <p:nvPr>
            <p:ph type="title"/>
          </p:nvPr>
        </p:nvSpPr>
        <p:spPr>
          <a:xfrm>
            <a:off x="511325" y="312850"/>
            <a:ext cx="89421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lang="en-US" sz="3533"/>
              <a:t>Next Steps: Post-Midterm Work</a:t>
            </a:r>
            <a:endParaRPr sz="6033"/>
          </a:p>
        </p:txBody>
      </p:sp>
      <p:sp>
        <p:nvSpPr>
          <p:cNvPr id="192" name="Google Shape;192;p31"/>
          <p:cNvSpPr txBox="1"/>
          <p:nvPr>
            <p:ph idx="1" type="body"/>
          </p:nvPr>
        </p:nvSpPr>
        <p:spPr>
          <a:xfrm>
            <a:off x="255900" y="1322125"/>
            <a:ext cx="11274600" cy="50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➢"/>
            </a:pPr>
            <a:r>
              <a:rPr b="1" lang="en-US">
                <a:solidFill>
                  <a:srgbClr val="000000"/>
                </a:solidFill>
              </a:rPr>
              <a:t>Week 1-2: Risk Labeling &amp; Baseline Model</a:t>
            </a:r>
            <a:endParaRPr b="1">
              <a:solidFill>
                <a:srgbClr val="000000"/>
              </a:solidFill>
            </a:endParaRPr>
          </a:p>
          <a:p>
            <a:pPr indent="-355600" lvl="1" marL="9144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○"/>
            </a:pPr>
            <a:r>
              <a:rPr lang="en-US">
                <a:solidFill>
                  <a:srgbClr val="000000"/>
                </a:solidFill>
              </a:rPr>
              <a:t>Develop heuristic rules to create synthetic labels  High Risk ⁠ if ⁠ in-degree &gt; 5 ⁠ or O⁠ betweenness &gt; 0.3 ⁠).</a:t>
            </a:r>
            <a:endParaRPr>
              <a:solidFill>
                <a:srgbClr val="000000"/>
              </a:solidFill>
            </a:endParaRPr>
          </a:p>
          <a:p>
            <a:pPr indent="-355600" lvl="1" marL="9144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○"/>
            </a:pPr>
            <a:r>
              <a:rPr lang="en-US">
                <a:solidFill>
                  <a:srgbClr val="000000"/>
                </a:solidFill>
              </a:rPr>
              <a:t>Train a ⁠ Logistic Regression ⁠ baseline model on the 7D features.</a:t>
            </a:r>
            <a:endParaRPr>
              <a:solidFill>
                <a:srgbClr val="000000"/>
              </a:solidFill>
            </a:endParaRPr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3556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➢"/>
            </a:pPr>
            <a:r>
              <a:rPr b="1" lang="en-US">
                <a:solidFill>
                  <a:srgbClr val="000000"/>
                </a:solidFill>
              </a:rPr>
              <a:t>Week 3: GNN Development</a:t>
            </a:r>
            <a:endParaRPr b="1">
              <a:solidFill>
                <a:srgbClr val="000000"/>
              </a:solidFill>
            </a:endParaRPr>
          </a:p>
          <a:p>
            <a:pPr indent="-355600" lvl="1" marL="9144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○"/>
            </a:pPr>
            <a:r>
              <a:rPr lang="en-US">
                <a:solidFill>
                  <a:srgbClr val="000000"/>
                </a:solidFill>
              </a:rPr>
              <a:t>Implement a Graph Convolutional Network (GCN).</a:t>
            </a:r>
            <a:endParaRPr>
              <a:solidFill>
                <a:srgbClr val="000000"/>
              </a:solidFill>
            </a:endParaRPr>
          </a:p>
          <a:p>
            <a:pPr indent="-355600" lvl="1" marL="9144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○"/>
            </a:pPr>
            <a:r>
              <a:rPr lang="en-US">
                <a:solidFill>
                  <a:srgbClr val="000000"/>
                </a:solidFill>
              </a:rPr>
              <a:t>Use PyTorch Geometric library.</a:t>
            </a:r>
            <a:endParaRPr>
              <a:solidFill>
                <a:srgbClr val="000000"/>
              </a:solidFill>
            </a:endParaRPr>
          </a:p>
          <a:p>
            <a:pPr indent="-355600" lvl="1" marL="9144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○"/>
            </a:pPr>
            <a:r>
              <a:rPr lang="en-US">
                <a:solidFill>
                  <a:srgbClr val="000000"/>
                </a:solidFill>
              </a:rPr>
              <a:t>Task: 3-class node classification (Low / Medium / High Risk)</a:t>
            </a:r>
            <a:endParaRPr>
              <a:solidFill>
                <a:srgbClr val="000000"/>
              </a:solidFill>
            </a:endParaRPr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3556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➢"/>
            </a:pPr>
            <a:r>
              <a:rPr b="1" lang="en-US">
                <a:solidFill>
                  <a:srgbClr val="000000"/>
                </a:solidFill>
              </a:rPr>
              <a:t>Week 4: Analysis &amp; Visualization</a:t>
            </a:r>
            <a:endParaRPr b="1">
              <a:solidFill>
                <a:srgbClr val="000000"/>
              </a:solidFill>
            </a:endParaRPr>
          </a:p>
          <a:p>
            <a:pPr indent="-355600" lvl="1" marL="9144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○"/>
            </a:pPr>
            <a:r>
              <a:rPr lang="en-US">
                <a:solidFill>
                  <a:srgbClr val="000000"/>
                </a:solidFill>
              </a:rPr>
              <a:t>Compare GNN vs. Baseline performance (Accuracy, F1-Score).</a:t>
            </a:r>
            <a:endParaRPr>
              <a:solidFill>
                <a:srgbClr val="000000"/>
              </a:solidFill>
            </a:endParaRPr>
          </a:p>
          <a:p>
            <a:pPr indent="-355600" lvl="1" marL="9144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○"/>
            </a:pPr>
            <a:r>
              <a:rPr lang="en-US">
                <a:solidFill>
                  <a:srgbClr val="000000"/>
                </a:solidFill>
              </a:rPr>
              <a:t>Create risk heatmaps and failure cascade simulations.</a:t>
            </a:r>
            <a:endParaRPr>
              <a:solidFill>
                <a:srgbClr val="000000"/>
              </a:solidFill>
            </a:endParaRPr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3556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➢"/>
            </a:pPr>
            <a:r>
              <a:rPr b="1" lang="en-US">
                <a:solidFill>
                  <a:srgbClr val="000000"/>
                </a:solidFill>
              </a:rPr>
              <a:t>Week 5: Integration &amp; Report</a:t>
            </a:r>
            <a:endParaRPr b="1">
              <a:solidFill>
                <a:srgbClr val="000000"/>
              </a:solidFill>
            </a:endParaRPr>
          </a:p>
          <a:p>
            <a:pPr indent="-355600" lvl="1" marL="9144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○"/>
            </a:pPr>
            <a:r>
              <a:rPr lang="en-US">
                <a:solidFill>
                  <a:srgbClr val="000000"/>
                </a:solidFill>
              </a:rPr>
              <a:t>Create final 10-page technical report and single executable pipeline.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2"/>
          <p:cNvSpPr txBox="1"/>
          <p:nvPr>
            <p:ph type="title"/>
          </p:nvPr>
        </p:nvSpPr>
        <p:spPr>
          <a:xfrm>
            <a:off x="646359" y="365127"/>
            <a:ext cx="10709100" cy="734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/>
              <a:t>Anticipated Evaluation Metrics</a:t>
            </a:r>
            <a:endParaRPr sz="3500"/>
          </a:p>
        </p:txBody>
      </p:sp>
      <p:sp>
        <p:nvSpPr>
          <p:cNvPr id="199" name="Google Shape;199;p32"/>
          <p:cNvSpPr txBox="1"/>
          <p:nvPr>
            <p:ph idx="2" type="body"/>
          </p:nvPr>
        </p:nvSpPr>
        <p:spPr>
          <a:xfrm>
            <a:off x="646350" y="1160188"/>
            <a:ext cx="10709100" cy="483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</a:rPr>
              <a:t>Model Performance:</a:t>
            </a:r>
            <a:endParaRPr sz="2000">
              <a:solidFill>
                <a:srgbClr val="000000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1" lang="en-US" sz="2000">
                <a:solidFill>
                  <a:srgbClr val="000000"/>
                </a:solidFill>
              </a:rPr>
              <a:t>Accuracy:</a:t>
            </a:r>
            <a:r>
              <a:rPr lang="en-US" sz="2000">
                <a:solidFill>
                  <a:srgbClr val="000000"/>
                </a:solidFill>
              </a:rPr>
              <a:t> Overall correct classifications (Target: &gt;75%)</a:t>
            </a:r>
            <a:endParaRPr sz="2000">
              <a:solidFill>
                <a:srgbClr val="000000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1" lang="en-US" sz="2000">
                <a:solidFill>
                  <a:srgbClr val="000000"/>
                </a:solidFill>
              </a:rPr>
              <a:t>F1-Score:</a:t>
            </a:r>
            <a:r>
              <a:rPr lang="en-US" sz="2000">
                <a:solidFill>
                  <a:srgbClr val="000000"/>
                </a:solidFill>
              </a:rPr>
              <a:t> Crucial for the </a:t>
            </a:r>
            <a:r>
              <a:rPr lang="en-US" sz="2000">
                <a:solidFill>
                  <a:srgbClr val="188038"/>
                </a:solidFill>
              </a:rPr>
              <a:t>High-Risk</a:t>
            </a:r>
            <a:r>
              <a:rPr lang="en-US" sz="2000">
                <a:solidFill>
                  <a:srgbClr val="000000"/>
                </a:solidFill>
              </a:rPr>
              <a:t> class, as our data will be imbalanced</a:t>
            </a:r>
            <a:endParaRPr sz="2000">
              <a:solidFill>
                <a:srgbClr val="000000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1" lang="en-US" sz="2000">
                <a:solidFill>
                  <a:srgbClr val="000000"/>
                </a:solidFill>
              </a:rPr>
              <a:t>Confusion Matrix:</a:t>
            </a:r>
            <a:r>
              <a:rPr lang="en-US" sz="2000">
                <a:solidFill>
                  <a:srgbClr val="000000"/>
                </a:solidFill>
              </a:rPr>
              <a:t> To see </a:t>
            </a:r>
            <a:r>
              <a:rPr i="1" lang="en-US" sz="2000">
                <a:solidFill>
                  <a:srgbClr val="000000"/>
                </a:solidFill>
              </a:rPr>
              <a:t>where</a:t>
            </a:r>
            <a:r>
              <a:rPr lang="en-US" sz="2000">
                <a:solidFill>
                  <a:srgbClr val="000000"/>
                </a:solidFill>
              </a:rPr>
              <a:t> the model gets confused (e.g., mixing up Medium and High risk)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</a:rPr>
              <a:t>System-Level Analysis:</a:t>
            </a:r>
            <a:endParaRPr sz="2000">
              <a:solidFill>
                <a:srgbClr val="000000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1" lang="en-US" sz="2000">
                <a:solidFill>
                  <a:srgbClr val="000000"/>
                </a:solidFill>
              </a:rPr>
              <a:t>Cascade Size:</a:t>
            </a:r>
            <a:r>
              <a:rPr lang="en-US" sz="2000">
                <a:solidFill>
                  <a:srgbClr val="000000"/>
                </a:solidFill>
              </a:rPr>
              <a:t> What percent of the system is affected by each critical node's failure?</a:t>
            </a:r>
            <a:endParaRPr sz="2000">
              <a:solidFill>
                <a:srgbClr val="000000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1" lang="en-US" sz="2000">
                <a:solidFill>
                  <a:srgbClr val="000000"/>
                </a:solidFill>
              </a:rPr>
              <a:t>Real-World Validation:</a:t>
            </a:r>
            <a:r>
              <a:rPr lang="en-US" sz="2000">
                <a:solidFill>
                  <a:srgbClr val="000000"/>
                </a:solidFill>
              </a:rPr>
              <a:t> How do our GNN's predictions compare </a:t>
            </a:r>
            <a:r>
              <a:rPr i="1" lang="en-US" sz="2000">
                <a:solidFill>
                  <a:srgbClr val="000000"/>
                </a:solidFill>
              </a:rPr>
              <a:t>qualitatively</a:t>
            </a:r>
            <a:r>
              <a:rPr lang="en-US" sz="2000">
                <a:solidFill>
                  <a:srgbClr val="000000"/>
                </a:solidFill>
              </a:rPr>
              <a:t> to the actual impact reports from the 2025 AWS outage?</a:t>
            </a:r>
            <a:endParaRPr sz="2700"/>
          </a:p>
        </p:txBody>
      </p:sp>
      <p:sp>
        <p:nvSpPr>
          <p:cNvPr id="200" name="Google Shape;200;p32"/>
          <p:cNvSpPr txBox="1"/>
          <p:nvPr>
            <p:ph idx="12" type="sldNum"/>
          </p:nvPr>
        </p:nvSpPr>
        <p:spPr>
          <a:xfrm>
            <a:off x="9375913" y="627684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3"/>
          <p:cNvSpPr txBox="1"/>
          <p:nvPr>
            <p:ph type="title"/>
          </p:nvPr>
        </p:nvSpPr>
        <p:spPr>
          <a:xfrm>
            <a:off x="682000" y="213250"/>
            <a:ext cx="92127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lang="en-US" sz="3533">
                <a:solidFill>
                  <a:srgbClr val="000000"/>
                </a:solidFill>
              </a:rPr>
              <a:t>Challenges &amp; Mitigation</a:t>
            </a:r>
            <a:endParaRPr sz="6033">
              <a:solidFill>
                <a:srgbClr val="000000"/>
              </a:solidFill>
            </a:endParaRPr>
          </a:p>
        </p:txBody>
      </p:sp>
      <p:sp>
        <p:nvSpPr>
          <p:cNvPr id="206" name="Google Shape;206;p33"/>
          <p:cNvSpPr txBox="1"/>
          <p:nvPr>
            <p:ph idx="1" type="body"/>
          </p:nvPr>
        </p:nvSpPr>
        <p:spPr>
          <a:xfrm>
            <a:off x="458700" y="1253525"/>
            <a:ext cx="11274600" cy="48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➢"/>
            </a:pPr>
            <a:r>
              <a:rPr b="1" lang="en-US">
                <a:solidFill>
                  <a:srgbClr val="000000"/>
                </a:solidFill>
              </a:rPr>
              <a:t>Challenge 1: </a:t>
            </a:r>
            <a:r>
              <a:rPr b="1" lang="en-US">
                <a:solidFill>
                  <a:srgbClr val="000000"/>
                </a:solidFill>
              </a:rPr>
              <a:t>Small Dataset:-</a:t>
            </a:r>
            <a:endParaRPr b="1">
              <a:solidFill>
                <a:srgbClr val="000000"/>
              </a:solidFill>
            </a:endParaRPr>
          </a:p>
          <a:p>
            <a:pPr indent="-355600" lvl="1" marL="9144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○"/>
            </a:pPr>
            <a:r>
              <a:rPr lang="en-US">
                <a:solidFill>
                  <a:srgbClr val="000000"/>
                </a:solidFill>
              </a:rPr>
              <a:t>We only have 22 nodes, which is very small for a GNN.</a:t>
            </a:r>
            <a:endParaRPr>
              <a:solidFill>
                <a:srgbClr val="000000"/>
              </a:solidFill>
            </a:endParaRPr>
          </a:p>
          <a:p>
            <a:pPr indent="-355600" lvl="1" marL="9144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○"/>
            </a:pPr>
            <a:r>
              <a:rPr lang="en-US">
                <a:solidFill>
                  <a:srgbClr val="000000"/>
                </a:solidFill>
              </a:rPr>
              <a:t>Mitigation: Use a simple 2-layer GCN to prevent overfitting and use k-fold cross-validation for robust evaluation.</a:t>
            </a:r>
            <a:endParaRPr>
              <a:solidFill>
                <a:srgbClr val="000000"/>
              </a:solidFill>
            </a:endParaRPr>
          </a:p>
          <a:p>
            <a:pPr indent="-3556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➢"/>
            </a:pPr>
            <a:r>
              <a:rPr b="1" lang="en-US">
                <a:solidFill>
                  <a:srgbClr val="000000"/>
                </a:solidFill>
              </a:rPr>
              <a:t>Challenge 2: Class Imbalance:-</a:t>
            </a:r>
            <a:endParaRPr b="1">
              <a:solidFill>
                <a:srgbClr val="000000"/>
              </a:solidFill>
            </a:endParaRPr>
          </a:p>
          <a:p>
            <a:pPr indent="-355600" lvl="1" marL="9144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○"/>
            </a:pPr>
            <a:r>
              <a:rPr lang="en-US">
                <a:solidFill>
                  <a:srgbClr val="000000"/>
                </a:solidFill>
              </a:rPr>
              <a:t>We will likely have fewer "High Risk" nodes than "Low Risk" nodes.</a:t>
            </a:r>
            <a:endParaRPr>
              <a:solidFill>
                <a:srgbClr val="000000"/>
              </a:solidFill>
            </a:endParaRPr>
          </a:p>
          <a:p>
            <a:pPr indent="-355600" lvl="1" marL="9144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○"/>
            </a:pPr>
            <a:r>
              <a:rPr lang="en-US">
                <a:solidFill>
                  <a:srgbClr val="000000"/>
                </a:solidFill>
              </a:rPr>
              <a:t>Mitigation: Use a weighted loss function (to penalize errors on the high-risk class) or use SMOTE oversampling.</a:t>
            </a:r>
            <a:endParaRPr>
              <a:solidFill>
                <a:srgbClr val="000000"/>
              </a:solidFill>
            </a:endParaRPr>
          </a:p>
          <a:p>
            <a:pPr indent="-3556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➢"/>
            </a:pPr>
            <a:r>
              <a:rPr b="1" lang="en-US">
                <a:solidFill>
                  <a:srgbClr val="000000"/>
                </a:solidFill>
              </a:rPr>
              <a:t>Challenge 3: LLM Extraction Errors:-</a:t>
            </a:r>
            <a:endParaRPr b="1">
              <a:solidFill>
                <a:srgbClr val="000000"/>
              </a:solidFill>
            </a:endParaRPr>
          </a:p>
          <a:p>
            <a:pPr indent="-355600" lvl="1" marL="9144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○"/>
            </a:pPr>
            <a:r>
              <a:rPr lang="en-US">
                <a:solidFill>
                  <a:srgbClr val="000000"/>
                </a:solidFill>
              </a:rPr>
              <a:t>The LLM could miss a dependency or "hallucinate" one.</a:t>
            </a:r>
            <a:endParaRPr>
              <a:solidFill>
                <a:srgbClr val="000000"/>
              </a:solidFill>
            </a:endParaRPr>
          </a:p>
          <a:p>
            <a:pPr indent="-355600" lvl="1" marL="9144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○"/>
            </a:pPr>
            <a:r>
              <a:rPr lang="en-US">
                <a:solidFill>
                  <a:srgbClr val="000000"/>
                </a:solidFill>
              </a:rPr>
              <a:t>Mitigation: We've already implemented a two-stage validation prompt, and we perform a final manual review of the extracted JSON.</a:t>
            </a:r>
            <a:endParaRPr>
              <a:solidFill>
                <a:srgbClr val="000000"/>
              </a:solidFill>
            </a:endParaRPr>
          </a:p>
          <a:p>
            <a:pPr indent="-3556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➢"/>
            </a:pPr>
            <a:r>
              <a:rPr b="1" lang="en-US">
                <a:solidFill>
                  <a:srgbClr val="000000"/>
                </a:solidFill>
              </a:rPr>
              <a:t>Challenge 4: Time Constraints:-</a:t>
            </a:r>
            <a:endParaRPr b="1">
              <a:solidFill>
                <a:srgbClr val="000000"/>
              </a:solidFill>
            </a:endParaRPr>
          </a:p>
          <a:p>
            <a:pPr indent="-355600" lvl="1" marL="9144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○"/>
            </a:pPr>
            <a:r>
              <a:rPr lang="en-US">
                <a:solidFill>
                  <a:srgbClr val="000000"/>
                </a:solidFill>
              </a:rPr>
              <a:t>4 weeks for GNN development, analysis, and a 10-page report is aggressive.</a:t>
            </a:r>
            <a:endParaRPr>
              <a:solidFill>
                <a:srgbClr val="000000"/>
              </a:solidFill>
            </a:endParaRPr>
          </a:p>
          <a:p>
            <a:pPr indent="-355600" lvl="1" marL="9144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○"/>
            </a:pPr>
            <a:r>
              <a:rPr lang="en-US">
                <a:solidFill>
                  <a:srgbClr val="000000"/>
                </a:solidFill>
              </a:rPr>
              <a:t>Mitigation:Prioritize the core pipeline first and parallelize work on the report writing and visualization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Stevens">
      <a:dk1>
        <a:srgbClr val="363D45"/>
      </a:dk1>
      <a:lt1>
        <a:srgbClr val="FFFFFF"/>
      </a:lt1>
      <a:dk2>
        <a:srgbClr val="00427F"/>
      </a:dk2>
      <a:lt2>
        <a:srgbClr val="E3E5E6"/>
      </a:lt2>
      <a:accent1>
        <a:srgbClr val="A32537"/>
      </a:accent1>
      <a:accent2>
        <a:srgbClr val="4895CF"/>
      </a:accent2>
      <a:accent3>
        <a:srgbClr val="EBC73A"/>
      </a:accent3>
      <a:accent4>
        <a:srgbClr val="E6832E"/>
      </a:accent4>
      <a:accent5>
        <a:srgbClr val="E7F2FB"/>
      </a:accent5>
      <a:accent6>
        <a:srgbClr val="FFF2E8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